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61" autoAdjust="0"/>
    <p:restoredTop sz="94660"/>
  </p:normalViewPr>
  <p:slideViewPr>
    <p:cSldViewPr snapToGrid="0">
      <p:cViewPr varScale="1">
        <p:scale>
          <a:sx n="65" d="100"/>
          <a:sy n="65" d="100"/>
        </p:scale>
        <p:origin x="11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5B4A-19F1-4AC2-82B3-D1F02705723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3117944F-D4AC-48CE-B05E-5925566D4D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27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5B4A-19F1-4AC2-82B3-D1F02705723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944F-D4AC-48CE-B05E-5925566D4D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95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5B4A-19F1-4AC2-82B3-D1F02705723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3117944F-D4AC-48CE-B05E-5925566D4D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666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5B4A-19F1-4AC2-82B3-D1F02705723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944F-D4AC-48CE-B05E-5925566D4D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529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5B4A-19F1-4AC2-82B3-D1F02705723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944F-D4AC-48CE-B05E-5925566D4D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890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5B4A-19F1-4AC2-82B3-D1F02705723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944F-D4AC-48CE-B05E-5925566D4D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7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5B4A-19F1-4AC2-82B3-D1F02705723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944F-D4AC-48CE-B05E-5925566D4D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618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5B4A-19F1-4AC2-82B3-D1F02705723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944F-D4AC-48CE-B05E-5925566D4D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315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5B4A-19F1-4AC2-82B3-D1F02705723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944F-D4AC-48CE-B05E-5925566D4D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53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5B4A-19F1-4AC2-82B3-D1F02705723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3117944F-D4AC-48CE-B05E-5925566D4D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530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5B4A-19F1-4AC2-82B3-D1F02705723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3117944F-D4AC-48CE-B05E-5925566D4D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395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5B4A-19F1-4AC2-82B3-D1F02705723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117944F-D4AC-48CE-B05E-5925566D4DF9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3509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5B4A-19F1-4AC2-82B3-D1F02705723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117944F-D4AC-48CE-B05E-5925566D4D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72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5B4A-19F1-4AC2-82B3-D1F02705723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944F-D4AC-48CE-B05E-5925566D4D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2650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5B4A-19F1-4AC2-82B3-D1F02705723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944F-D4AC-48CE-B05E-5925566D4D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878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5B4A-19F1-4AC2-82B3-D1F02705723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944F-D4AC-48CE-B05E-5925566D4D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0864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939D5B4A-19F1-4AC2-82B3-D1F02705723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3117944F-D4AC-48CE-B05E-5925566D4D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10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D5B4A-19F1-4AC2-82B3-D1F02705723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7944F-D4AC-48CE-B05E-5925566D4D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7800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snimnews.com/en/news/2019/04/17/1991470/risk-of-heart-disease-reduced-by-diabetic-drug-in-non-diabetic-patients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laptrinhcanban.com/python/nhap-mon-lap-trinh-python/gioi-thieu-python/python-la-gi/" TargetMode="External"/><Relationship Id="rId7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mily-bhat/Heart-Disease-Prediction-Model" TargetMode="External"/><Relationship Id="rId2" Type="http://schemas.openxmlformats.org/officeDocument/2006/relationships/hyperlink" Target="mailto:emily231001001233@technoindiaeducation.com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DD499-C298-3B7E-6801-3D545CA3BD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180" y="2055930"/>
            <a:ext cx="8144134" cy="1373070"/>
          </a:xfrm>
        </p:spPr>
        <p:txBody>
          <a:bodyPr/>
          <a:lstStyle/>
          <a:p>
            <a:r>
              <a:rPr lang="en-IN" sz="4000" dirty="0"/>
              <a:t>HEART DISEASE PREDICTION MODEL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BCDFA7-2283-951F-B5FD-2DE534474F9F}"/>
              </a:ext>
            </a:extLst>
          </p:cNvPr>
          <p:cNvSpPr txBox="1"/>
          <p:nvPr/>
        </p:nvSpPr>
        <p:spPr>
          <a:xfrm>
            <a:off x="3407228" y="3537858"/>
            <a:ext cx="4719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Bell MT" panose="02020503060305020303" pitchFamily="18" charset="0"/>
              </a:rPr>
              <a:t>USING LOGISTIC REGRESSION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73BB58-53C8-AA9A-153A-2CCEFAF84111}"/>
              </a:ext>
            </a:extLst>
          </p:cNvPr>
          <p:cNvSpPr txBox="1"/>
          <p:nvPr/>
        </p:nvSpPr>
        <p:spPr>
          <a:xfrm>
            <a:off x="9198616" y="3244334"/>
            <a:ext cx="2993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BY – EMILY BHATTACHARJEE</a:t>
            </a:r>
          </a:p>
        </p:txBody>
      </p:sp>
    </p:spTree>
    <p:extLst>
      <p:ext uri="{BB962C8B-B14F-4D97-AF65-F5344CB8AC3E}">
        <p14:creationId xmlns:p14="http://schemas.microsoft.com/office/powerpoint/2010/main" val="3046912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9F7B-01DA-72FB-7E7A-35143151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pic>
        <p:nvPicPr>
          <p:cNvPr id="10" name="Picture Placeholder 9" descr="A human body with a heart">
            <a:extLst>
              <a:ext uri="{FF2B5EF4-FFF2-40B4-BE49-F238E27FC236}">
                <a16:creationId xmlns:a16="http://schemas.microsoft.com/office/drawing/2014/main" id="{AF66BABF-6399-B25B-8877-D2B124C7985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370" b="2370"/>
          <a:stretch>
            <a:fillRect/>
          </a:stretch>
        </p:blipFill>
        <p:spPr>
          <a:xfrm>
            <a:off x="6292850" y="2346632"/>
            <a:ext cx="5426075" cy="359886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5982E2-E3B7-D562-48A0-83BE0A0B4358}"/>
              </a:ext>
            </a:extLst>
          </p:cNvPr>
          <p:cNvSpPr txBox="1"/>
          <p:nvPr/>
        </p:nvSpPr>
        <p:spPr>
          <a:xfrm>
            <a:off x="321094" y="2474892"/>
            <a:ext cx="8463677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Heart disease is a major global health concern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000" dirty="0"/>
              <a:t>Early prediction helps reduce risks and improve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    treatment.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000" dirty="0"/>
              <a:t>Manual diagnosis takes time and depends on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    expert interpretation.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191A8D-17A4-9644-9422-8A8AA2BF8CB4}"/>
              </a:ext>
            </a:extLst>
          </p:cNvPr>
          <p:cNvSpPr txBox="1"/>
          <p:nvPr/>
        </p:nvSpPr>
        <p:spPr>
          <a:xfrm>
            <a:off x="321094" y="4236317"/>
            <a:ext cx="50918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/>
              <a:t>Objective:</a:t>
            </a:r>
            <a:br>
              <a:rPr lang="en-US" dirty="0"/>
            </a:br>
            <a:r>
              <a:rPr lang="en-US" dirty="0"/>
              <a:t>Predict the likelihood of heart disease using </a:t>
            </a:r>
          </a:p>
          <a:p>
            <a:r>
              <a:rPr lang="en-US" dirty="0"/>
              <a:t>    machine learning.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8EE612-AE1E-8FF7-7940-8B668A89707A}"/>
              </a:ext>
            </a:extLst>
          </p:cNvPr>
          <p:cNvSpPr txBox="1"/>
          <p:nvPr/>
        </p:nvSpPr>
        <p:spPr>
          <a:xfrm>
            <a:off x="11204541" y="1001309"/>
            <a:ext cx="6142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40623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11B09-9903-C0CF-4D5B-653BF5584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IDEA SOLUTION </a:t>
            </a:r>
          </a:p>
        </p:txBody>
      </p:sp>
      <p:pic>
        <p:nvPicPr>
          <p:cNvPr id="6" name="Picture Placeholder 5" descr="A robot looking at a human heart&#10;&#10;AI-generated content may be incorrect.">
            <a:extLst>
              <a:ext uri="{FF2B5EF4-FFF2-40B4-BE49-F238E27FC236}">
                <a16:creationId xmlns:a16="http://schemas.microsoft.com/office/drawing/2014/main" id="{AAA8748B-F359-C3F2-AFBE-6C15C9E9815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0" r="5230"/>
          <a:stretch>
            <a:fillRect/>
          </a:stretch>
        </p:blipFill>
        <p:spPr>
          <a:xfrm>
            <a:off x="681038" y="2351088"/>
            <a:ext cx="5424487" cy="359886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B1297-36FA-0BA5-AADD-FC5B599B8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3313" y="2018508"/>
            <a:ext cx="4778829" cy="3931248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Build a Logistic Regression model using patient health data.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Perform exploratory data analysis to understand key features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Train and test the model for accuracy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Provide an interactive prediction system for user inputs.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6016C2-1A56-1F9B-356C-3C777CB7ECDA}"/>
              </a:ext>
            </a:extLst>
          </p:cNvPr>
          <p:cNvSpPr txBox="1"/>
          <p:nvPr/>
        </p:nvSpPr>
        <p:spPr>
          <a:xfrm>
            <a:off x="11191251" y="1001309"/>
            <a:ext cx="64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0792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34CC-B25B-3A71-EB56-5EDE9D78C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pic>
        <p:nvPicPr>
          <p:cNvPr id="6" name="Content Placeholder 5" descr="A blue and yellow logo">
            <a:extLst>
              <a:ext uri="{FF2B5EF4-FFF2-40B4-BE49-F238E27FC236}">
                <a16:creationId xmlns:a16="http://schemas.microsoft.com/office/drawing/2014/main" id="{770A2EA6-DC0A-69CB-9221-EDEA3447F0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427586" y="2356078"/>
            <a:ext cx="1733188" cy="974919"/>
          </a:xfrm>
        </p:spPr>
      </p:pic>
      <p:pic>
        <p:nvPicPr>
          <p:cNvPr id="9" name="Picture 8" descr="A blue and white logo&#10;&#10;AI-generated content may be incorrect.">
            <a:extLst>
              <a:ext uri="{FF2B5EF4-FFF2-40B4-BE49-F238E27FC236}">
                <a16:creationId xmlns:a16="http://schemas.microsoft.com/office/drawing/2014/main" id="{A1921CFA-FC0A-1939-43C6-7601DD0C9E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9881" y="2200149"/>
            <a:ext cx="1396182" cy="1396182"/>
          </a:xfrm>
          <a:prstGeom prst="rect">
            <a:avLst/>
          </a:prstGeom>
        </p:spPr>
      </p:pic>
      <p:pic>
        <p:nvPicPr>
          <p:cNvPr id="11" name="Picture 10" descr="A logo of a person&#10;&#10;AI-generated content may be incorrect.">
            <a:extLst>
              <a:ext uri="{FF2B5EF4-FFF2-40B4-BE49-F238E27FC236}">
                <a16:creationId xmlns:a16="http://schemas.microsoft.com/office/drawing/2014/main" id="{D573DEB9-CB90-E851-CE2D-4752B35514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027" y="5449051"/>
            <a:ext cx="1715685" cy="1042425"/>
          </a:xfrm>
          <a:prstGeom prst="rect">
            <a:avLst/>
          </a:prstGeom>
        </p:spPr>
      </p:pic>
      <p:pic>
        <p:nvPicPr>
          <p:cNvPr id="13" name="Picture 12" descr="A logo with a compass&#10;&#10;AI-generated content may be incorrect.">
            <a:extLst>
              <a:ext uri="{FF2B5EF4-FFF2-40B4-BE49-F238E27FC236}">
                <a16:creationId xmlns:a16="http://schemas.microsoft.com/office/drawing/2014/main" id="{78E78540-E22A-FAAD-3A01-5D645CB18D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9881" y="3962313"/>
            <a:ext cx="1755964" cy="1097767"/>
          </a:xfrm>
          <a:prstGeom prst="rect">
            <a:avLst/>
          </a:prstGeom>
        </p:spPr>
      </p:pic>
      <p:pic>
        <p:nvPicPr>
          <p:cNvPr id="15" name="Picture 14" descr="A logo with blue text">
            <a:extLst>
              <a:ext uri="{FF2B5EF4-FFF2-40B4-BE49-F238E27FC236}">
                <a16:creationId xmlns:a16="http://schemas.microsoft.com/office/drawing/2014/main" id="{A93D91ED-BFCC-6B10-A6A5-085B187CE1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4400" y="3962313"/>
            <a:ext cx="2070549" cy="974919"/>
          </a:xfrm>
          <a:prstGeom prst="rect">
            <a:avLst/>
          </a:prstGeom>
        </p:spPr>
      </p:pic>
      <p:pic>
        <p:nvPicPr>
          <p:cNvPr id="17" name="Picture 16" descr="A logo with grey circles and black text">
            <a:extLst>
              <a:ext uri="{FF2B5EF4-FFF2-40B4-BE49-F238E27FC236}">
                <a16:creationId xmlns:a16="http://schemas.microsoft.com/office/drawing/2014/main" id="{A876B2B5-2393-59D5-231A-19B0A8ED72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638" y="5517467"/>
            <a:ext cx="1982524" cy="10424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35B538D-5F04-1CCD-4455-94F74C5906F2}"/>
              </a:ext>
            </a:extLst>
          </p:cNvPr>
          <p:cNvSpPr txBox="1"/>
          <p:nvPr/>
        </p:nvSpPr>
        <p:spPr>
          <a:xfrm>
            <a:off x="680321" y="2651130"/>
            <a:ext cx="5842876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en-US" sz="2000" b="1" dirty="0">
                <a:latin typeface="Arial" panose="020B0604020202020204" pitchFamily="34" charset="0"/>
              </a:rPr>
              <a:t>Python : Python Programming Language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en-US" sz="2000" b="1" dirty="0">
                <a:latin typeface="Arial" panose="020B0604020202020204" pitchFamily="34" charset="0"/>
              </a:rPr>
              <a:t>NumPy</a:t>
            </a:r>
            <a:r>
              <a:rPr lang="en-US" altLang="en-US" sz="2000" dirty="0">
                <a:latin typeface="Arial" panose="020B0604020202020204" pitchFamily="34" charset="0"/>
              </a:rPr>
              <a:t> – Numerical Computation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en-US" sz="2000" b="1" dirty="0">
                <a:latin typeface="Arial" panose="020B0604020202020204" pitchFamily="34" charset="0"/>
              </a:rPr>
              <a:t>Pandas</a:t>
            </a:r>
            <a:r>
              <a:rPr lang="en-US" altLang="en-US" sz="2000" dirty="0">
                <a:latin typeface="Arial" panose="020B0604020202020204" pitchFamily="34" charset="0"/>
              </a:rPr>
              <a:t> – Data loading &amp; Preprocessing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en-US" sz="2000" b="1" dirty="0">
                <a:latin typeface="Arial" panose="020B0604020202020204" pitchFamily="34" charset="0"/>
              </a:rPr>
              <a:t>Matplotlib </a:t>
            </a:r>
            <a:r>
              <a:rPr lang="en-US" altLang="en-US" sz="2000" dirty="0">
                <a:latin typeface="Arial" panose="020B0604020202020204" pitchFamily="34" charset="0"/>
              </a:rPr>
              <a:t> – Graphs &amp; EDA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en-US" sz="2000" b="1" dirty="0">
                <a:latin typeface="Arial" panose="020B0604020202020204" pitchFamily="34" charset="0"/>
              </a:rPr>
              <a:t>Scikit-Learn</a:t>
            </a:r>
            <a:r>
              <a:rPr lang="en-US" altLang="en-US" sz="2000" dirty="0">
                <a:latin typeface="Arial" panose="020B0604020202020204" pitchFamily="34" charset="0"/>
              </a:rPr>
              <a:t> – Splitting, Modeling, Evaluation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en-US" sz="2000" b="1" dirty="0">
                <a:latin typeface="Arial" panose="020B0604020202020204" pitchFamily="34" charset="0"/>
              </a:rPr>
              <a:t>Model Used:</a:t>
            </a:r>
            <a:r>
              <a:rPr lang="en-US" altLang="en-US" sz="2000" dirty="0">
                <a:latin typeface="Arial" panose="020B0604020202020204" pitchFamily="34" charset="0"/>
              </a:rPr>
              <a:t> Logistic Regression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en-US" sz="2000" b="1" dirty="0">
                <a:latin typeface="Arial" panose="020B0604020202020204" pitchFamily="34" charset="0"/>
              </a:rPr>
              <a:t>Environment: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Jupyter</a:t>
            </a:r>
            <a:r>
              <a:rPr lang="en-US" altLang="en-US" sz="2000" dirty="0">
                <a:latin typeface="Arial" panose="020B0604020202020204" pitchFamily="34" charset="0"/>
              </a:rPr>
              <a:t> Notebook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1B96AD-189E-63D8-4174-54A6CB699374}"/>
              </a:ext>
            </a:extLst>
          </p:cNvPr>
          <p:cNvSpPr txBox="1"/>
          <p:nvPr/>
        </p:nvSpPr>
        <p:spPr>
          <a:xfrm>
            <a:off x="11061290" y="1049175"/>
            <a:ext cx="64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68531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0BD37D3-C20A-098F-B7DC-FFB826162BB7}"/>
              </a:ext>
            </a:extLst>
          </p:cNvPr>
          <p:cNvSpPr/>
          <p:nvPr/>
        </p:nvSpPr>
        <p:spPr>
          <a:xfrm>
            <a:off x="8506115" y="2310582"/>
            <a:ext cx="3576133" cy="43556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ED2571-7C8C-CA06-40D0-7EB8295B68EC}"/>
              </a:ext>
            </a:extLst>
          </p:cNvPr>
          <p:cNvSpPr/>
          <p:nvPr/>
        </p:nvSpPr>
        <p:spPr>
          <a:xfrm>
            <a:off x="4150265" y="2310582"/>
            <a:ext cx="4016829" cy="43556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7784001-474F-DCDF-9869-601FE1357A12}"/>
              </a:ext>
            </a:extLst>
          </p:cNvPr>
          <p:cNvSpPr/>
          <p:nvPr/>
        </p:nvSpPr>
        <p:spPr>
          <a:xfrm>
            <a:off x="201911" y="2310582"/>
            <a:ext cx="3576133" cy="43556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E5037D-1722-DCCA-75E1-B099BAD19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LOGISTIC REGRESSION(WHAT AND WHY)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FDD523-1186-3CD0-5026-7B1276318447}"/>
              </a:ext>
            </a:extLst>
          </p:cNvPr>
          <p:cNvSpPr txBox="1"/>
          <p:nvPr/>
        </p:nvSpPr>
        <p:spPr>
          <a:xfrm>
            <a:off x="327274" y="2559192"/>
            <a:ext cx="34507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BINARY CLASSIFICATION</a:t>
            </a:r>
          </a:p>
          <a:p>
            <a:endParaRPr lang="en-US" dirty="0">
              <a:solidFill>
                <a:srgbClr val="FFFFFF"/>
              </a:solidFill>
              <a:latin typeface="Carlito"/>
              <a:ea typeface="Carlito"/>
              <a:cs typeface="Carlito"/>
              <a:sym typeface="Carlito"/>
            </a:endParaRPr>
          </a:p>
          <a:p>
            <a:r>
              <a:rPr lang="en-US" dirty="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Logistic regression is a statistical method used for binary classification problems, predicting the probability that a given input point belongs to a particular category. This technique is essential for distinguishing between two possible outcomes, such as the presence or absence of heart disease, enabling informed healthcare decisions through predictive analytics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FE7C83-6D5A-4A03-6267-FE4B1E6EA4AA}"/>
              </a:ext>
            </a:extLst>
          </p:cNvPr>
          <p:cNvSpPr txBox="1"/>
          <p:nvPr/>
        </p:nvSpPr>
        <p:spPr>
          <a:xfrm>
            <a:off x="4220145" y="2559192"/>
            <a:ext cx="401682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SIGMOID FUNCTION</a:t>
            </a:r>
          </a:p>
          <a:p>
            <a:endParaRPr lang="en-US" dirty="0">
              <a:solidFill>
                <a:srgbClr val="FFFFFF"/>
              </a:solidFill>
              <a:latin typeface="Carlito"/>
              <a:ea typeface="Carlito"/>
              <a:cs typeface="Carlito"/>
              <a:sym typeface="Carlito"/>
            </a:endParaRPr>
          </a:p>
          <a:p>
            <a:r>
              <a:rPr lang="en-US" dirty="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The sigmoid function is crucial in logistic regression, transforming any real-valued number into a value between 0 and 1. This property makes it ideal for modeling probabilities. By applying a threshold, we can classify predicted probabilities into binary outcomes, allowing healthcare professionals to make objective assessments based on statistical data.</a:t>
            </a:r>
          </a:p>
          <a:p>
            <a:endParaRPr lang="en-IN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4455B12-CC37-3DE3-3403-BEE5E61D871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647471" y="2559192"/>
            <a:ext cx="392798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rlito"/>
              </a:rPr>
              <a:t>THEORY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Carli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rlito"/>
              </a:rPr>
              <a:t>A classification algorithm used for predicting binary outcomes.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rlito"/>
              </a:rPr>
              <a:t>Uses the sigmoid function to output probabilities between 0 and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rlito"/>
              </a:rPr>
              <a:t>Probability ≥ 0.5 → Heart disease present</a:t>
            </a:r>
            <a:r>
              <a:rPr lang="en-US" altLang="en-US" dirty="0">
                <a:latin typeface="Carlito"/>
              </a:rPr>
              <a:t>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rlito"/>
              </a:rPr>
              <a:t>Probability &lt; 0.5 → Heart disease absent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2A711B-F73F-C271-C2BF-9E624A8514E0}"/>
              </a:ext>
            </a:extLst>
          </p:cNvPr>
          <p:cNvSpPr txBox="1"/>
          <p:nvPr/>
        </p:nvSpPr>
        <p:spPr>
          <a:xfrm>
            <a:off x="11061290" y="1049175"/>
            <a:ext cx="64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20379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2C7B1-7E91-4B0C-7746-7C786B5F0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WORKFLOW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866CE77-AF09-06F4-BBAA-D89D3668B1D4}"/>
              </a:ext>
            </a:extLst>
          </p:cNvPr>
          <p:cNvSpPr/>
          <p:nvPr/>
        </p:nvSpPr>
        <p:spPr>
          <a:xfrm>
            <a:off x="560438" y="2598477"/>
            <a:ext cx="2143432" cy="10809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Load and inspect dataset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CF45B26-EC51-AF61-B6FD-B6D376E60008}"/>
              </a:ext>
            </a:extLst>
          </p:cNvPr>
          <p:cNvSpPr/>
          <p:nvPr/>
        </p:nvSpPr>
        <p:spPr>
          <a:xfrm>
            <a:off x="570271" y="4443730"/>
            <a:ext cx="2143432" cy="10809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Interactive user prediction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B089780-B20E-35CE-34A1-DEDD14CD0BF3}"/>
              </a:ext>
            </a:extLst>
          </p:cNvPr>
          <p:cNvSpPr/>
          <p:nvPr/>
        </p:nvSpPr>
        <p:spPr>
          <a:xfrm>
            <a:off x="3362632" y="4443726"/>
            <a:ext cx="2143432" cy="10809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Evaluate model performance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06EC1E5-1923-0795-022F-3330695A0A84}"/>
              </a:ext>
            </a:extLst>
          </p:cNvPr>
          <p:cNvSpPr/>
          <p:nvPr/>
        </p:nvSpPr>
        <p:spPr>
          <a:xfrm>
            <a:off x="6154993" y="4443727"/>
            <a:ext cx="2143432" cy="10809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Train Logistic Regression model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FB9F0E1-FF69-74C8-5250-A0E5F9520EF7}"/>
              </a:ext>
            </a:extLst>
          </p:cNvPr>
          <p:cNvSpPr/>
          <p:nvPr/>
        </p:nvSpPr>
        <p:spPr>
          <a:xfrm>
            <a:off x="8735961" y="4443729"/>
            <a:ext cx="2143432" cy="10809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Split data into training/testing</a:t>
            </a:r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A2BF661-B4BF-B7D5-06AC-12377601573C}"/>
              </a:ext>
            </a:extLst>
          </p:cNvPr>
          <p:cNvSpPr/>
          <p:nvPr/>
        </p:nvSpPr>
        <p:spPr>
          <a:xfrm>
            <a:off x="8853948" y="2552087"/>
            <a:ext cx="2143432" cy="10809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features (X) and target (y)</a:t>
            </a:r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0644183-F3EB-7123-404A-AE833052BF66}"/>
              </a:ext>
            </a:extLst>
          </p:cNvPr>
          <p:cNvSpPr/>
          <p:nvPr/>
        </p:nvSpPr>
        <p:spPr>
          <a:xfrm>
            <a:off x="6096000" y="2598477"/>
            <a:ext cx="2143432" cy="10809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Exploratory Data Analysis (graphs &amp; insights)</a:t>
            </a:r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86D4105-8E9A-245A-5743-F57BE0BAC86F}"/>
              </a:ext>
            </a:extLst>
          </p:cNvPr>
          <p:cNvSpPr/>
          <p:nvPr/>
        </p:nvSpPr>
        <p:spPr>
          <a:xfrm>
            <a:off x="3333135" y="2598477"/>
            <a:ext cx="2143432" cy="10809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Preprocess and clean data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274FD61-6FCB-E35E-1EB2-220474243FED}"/>
              </a:ext>
            </a:extLst>
          </p:cNvPr>
          <p:cNvCxnSpPr>
            <a:stCxn id="3" idx="3"/>
            <a:endCxn id="17" idx="1"/>
          </p:cNvCxnSpPr>
          <p:nvPr/>
        </p:nvCxnSpPr>
        <p:spPr>
          <a:xfrm>
            <a:off x="2703870" y="3138947"/>
            <a:ext cx="6292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C5D2B03-FFD3-5EED-724B-F4F553452005}"/>
              </a:ext>
            </a:extLst>
          </p:cNvPr>
          <p:cNvCxnSpPr/>
          <p:nvPr/>
        </p:nvCxnSpPr>
        <p:spPr>
          <a:xfrm flipV="1">
            <a:off x="5476567" y="3128339"/>
            <a:ext cx="619432" cy="70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AAB06C2-5288-79D8-AFC2-29F3967F7C3B}"/>
              </a:ext>
            </a:extLst>
          </p:cNvPr>
          <p:cNvCxnSpPr>
            <a:cxnSpLocks/>
          </p:cNvCxnSpPr>
          <p:nvPr/>
        </p:nvCxnSpPr>
        <p:spPr>
          <a:xfrm>
            <a:off x="8182896" y="3135410"/>
            <a:ext cx="757085" cy="70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D6B4CDE-64DE-4590-3F45-CFABD3E54D50}"/>
              </a:ext>
            </a:extLst>
          </p:cNvPr>
          <p:cNvCxnSpPr>
            <a:cxnSpLocks/>
          </p:cNvCxnSpPr>
          <p:nvPr/>
        </p:nvCxnSpPr>
        <p:spPr>
          <a:xfrm>
            <a:off x="9679858" y="3799565"/>
            <a:ext cx="0" cy="6441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6D31546-688B-E3D4-BE1D-2A4263742F60}"/>
              </a:ext>
            </a:extLst>
          </p:cNvPr>
          <p:cNvCxnSpPr>
            <a:cxnSpLocks/>
          </p:cNvCxnSpPr>
          <p:nvPr/>
        </p:nvCxnSpPr>
        <p:spPr>
          <a:xfrm flipH="1">
            <a:off x="8239432" y="4984195"/>
            <a:ext cx="6145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D3F4A80-9B19-BDB3-9DD2-C135AA53E5CB}"/>
              </a:ext>
            </a:extLst>
          </p:cNvPr>
          <p:cNvCxnSpPr/>
          <p:nvPr/>
        </p:nvCxnSpPr>
        <p:spPr>
          <a:xfrm flipV="1">
            <a:off x="2713703" y="3138947"/>
            <a:ext cx="619432" cy="70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C0DF81E-AD31-446F-8376-B11F70732AFA}"/>
              </a:ext>
            </a:extLst>
          </p:cNvPr>
          <p:cNvCxnSpPr>
            <a:cxnSpLocks/>
          </p:cNvCxnSpPr>
          <p:nvPr/>
        </p:nvCxnSpPr>
        <p:spPr>
          <a:xfrm flipH="1">
            <a:off x="5476567" y="4950330"/>
            <a:ext cx="7103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987D64A-2215-21D1-510E-16B7EC0889DE}"/>
              </a:ext>
            </a:extLst>
          </p:cNvPr>
          <p:cNvCxnSpPr>
            <a:cxnSpLocks/>
          </p:cNvCxnSpPr>
          <p:nvPr/>
        </p:nvCxnSpPr>
        <p:spPr>
          <a:xfrm flipH="1">
            <a:off x="2703870" y="4950330"/>
            <a:ext cx="6440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BBAF50B-6D5F-1497-47FC-08687680DE14}"/>
              </a:ext>
            </a:extLst>
          </p:cNvPr>
          <p:cNvSpPr txBox="1"/>
          <p:nvPr/>
        </p:nvSpPr>
        <p:spPr>
          <a:xfrm>
            <a:off x="11061290" y="1049175"/>
            <a:ext cx="64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2963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3F1EB-605E-2593-D886-0CEA1C8F4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EDA HIGHLIGHTS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280BAF-9290-E270-59B3-D3104A26C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49" y="2295633"/>
            <a:ext cx="2514419" cy="21092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BA8F12-51C3-DCEE-0D2E-E32EF7722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598" y="2295633"/>
            <a:ext cx="1899961" cy="20126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D05F21-2580-B406-C930-4F7213925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49" y="4672270"/>
            <a:ext cx="2364596" cy="19064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969246-1175-86DC-ACAF-9AB4EF7B8A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5308" y="4672270"/>
            <a:ext cx="2709723" cy="20126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A52D6D1-8A78-1097-5AA4-86CACE3E81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511" y="2706528"/>
            <a:ext cx="5006558" cy="320349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22AD9C6-3FE8-0C52-252D-49E60E90D3FD}"/>
              </a:ext>
            </a:extLst>
          </p:cNvPr>
          <p:cNvSpPr txBox="1"/>
          <p:nvPr/>
        </p:nvSpPr>
        <p:spPr>
          <a:xfrm>
            <a:off x="11061290" y="1049175"/>
            <a:ext cx="64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45320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09FBC-7E47-F194-50D9-EBF9859F5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EVALUATION AND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C40865-E188-95BF-E719-318B2B060B80}"/>
              </a:ext>
            </a:extLst>
          </p:cNvPr>
          <p:cNvSpPr txBox="1"/>
          <p:nvPr/>
        </p:nvSpPr>
        <p:spPr>
          <a:xfrm>
            <a:off x="511278" y="222867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u="sng" dirty="0"/>
              <a:t>Model Evaluation: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Accuracy Score: 81.46%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Confusion Matrix 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Classification Report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3DB542-847D-2FE2-4E43-84EE1B1434EA}"/>
              </a:ext>
            </a:extLst>
          </p:cNvPr>
          <p:cNvSpPr txBox="1"/>
          <p:nvPr/>
        </p:nvSpPr>
        <p:spPr>
          <a:xfrm>
            <a:off x="511278" y="4375353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Conclusion:</a:t>
            </a:r>
          </a:p>
          <a:p>
            <a:endParaRPr lang="en-US" dirty="0"/>
          </a:p>
          <a:p>
            <a:r>
              <a:rPr lang="en-US" dirty="0"/>
              <a:t>Successfully built a logistic regression model for heart disease prediction.</a:t>
            </a:r>
          </a:p>
          <a:p>
            <a:r>
              <a:rPr lang="en-US" dirty="0"/>
              <a:t>EDA revealed key medical factors influencing disease.</a:t>
            </a:r>
          </a:p>
          <a:p>
            <a:r>
              <a:rPr lang="en-US" dirty="0"/>
              <a:t>Model shows good accuracy and interpretability.</a:t>
            </a:r>
          </a:p>
          <a:p>
            <a:pPr>
              <a:buNone/>
            </a:pP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27C8E8-F7A1-1E20-FE6F-B9D688543758}"/>
              </a:ext>
            </a:extLst>
          </p:cNvPr>
          <p:cNvSpPr txBox="1"/>
          <p:nvPr/>
        </p:nvSpPr>
        <p:spPr>
          <a:xfrm>
            <a:off x="7344698" y="2845422"/>
            <a:ext cx="417870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Future Scope:</a:t>
            </a:r>
          </a:p>
          <a:p>
            <a:endParaRPr lang="en-US" dirty="0"/>
          </a:p>
          <a:p>
            <a:r>
              <a:rPr lang="en-US" dirty="0"/>
              <a:t>Adding frontend for user-facing predictions.</a:t>
            </a:r>
          </a:p>
          <a:p>
            <a:r>
              <a:rPr lang="en-US" dirty="0"/>
              <a:t>Using advanced models (Random Forest, SVM, </a:t>
            </a:r>
            <a:r>
              <a:rPr lang="en-US" dirty="0" err="1"/>
              <a:t>XGBoost</a:t>
            </a:r>
            <a:r>
              <a:rPr lang="en-US" dirty="0"/>
              <a:t>).</a:t>
            </a:r>
          </a:p>
          <a:p>
            <a:r>
              <a:rPr lang="en-US" dirty="0"/>
              <a:t>Deploying the model as a web or mobile tool.</a:t>
            </a:r>
          </a:p>
          <a:p>
            <a:endParaRPr lang="en-IN" dirty="0"/>
          </a:p>
        </p:txBody>
      </p:sp>
      <p:pic>
        <p:nvPicPr>
          <p:cNvPr id="8" name="Picture 7" descr="A screenshot of a computer screen">
            <a:extLst>
              <a:ext uri="{FF2B5EF4-FFF2-40B4-BE49-F238E27FC236}">
                <a16:creationId xmlns:a16="http://schemas.microsoft.com/office/drawing/2014/main" id="{8B1740BB-6F09-B2C2-075A-081D72D5F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212" y="2228671"/>
            <a:ext cx="3293026" cy="21042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AE012A-E82F-EE88-2107-ADAA2FD66778}"/>
              </a:ext>
            </a:extLst>
          </p:cNvPr>
          <p:cNvSpPr txBox="1"/>
          <p:nvPr/>
        </p:nvSpPr>
        <p:spPr>
          <a:xfrm>
            <a:off x="11061290" y="1049175"/>
            <a:ext cx="64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883362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C91B3-259A-7BE1-7EEB-508AD19AA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05329" y="2522878"/>
            <a:ext cx="9613860" cy="1090788"/>
          </a:xfrm>
        </p:spPr>
        <p:txBody>
          <a:bodyPr/>
          <a:lstStyle/>
          <a:p>
            <a:r>
              <a:rPr lang="en-IN" dirty="0"/>
              <a:t>THANK YOU!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62A8E-0B49-5E76-05F5-ED24C1E655B5}"/>
              </a:ext>
            </a:extLst>
          </p:cNvPr>
          <p:cNvSpPr txBox="1"/>
          <p:nvPr/>
        </p:nvSpPr>
        <p:spPr>
          <a:xfrm>
            <a:off x="216310" y="3429000"/>
            <a:ext cx="5879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EMAIL </a:t>
            </a:r>
            <a:r>
              <a:rPr lang="en-IN" dirty="0">
                <a:hlinkClick r:id="rId2"/>
              </a:rPr>
              <a:t>:emily231001001233@technoindiaeducation.com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B476D2-8E1A-5E23-786B-25BB0A22B451}"/>
              </a:ext>
            </a:extLst>
          </p:cNvPr>
          <p:cNvSpPr txBox="1"/>
          <p:nvPr/>
        </p:nvSpPr>
        <p:spPr>
          <a:xfrm>
            <a:off x="216310" y="3726129"/>
            <a:ext cx="8649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GITHUB:</a:t>
            </a:r>
            <a:r>
              <a:rPr lang="en-IN" dirty="0" err="1">
                <a:hlinkClick r:id="rId3"/>
              </a:rPr>
              <a:t>https</a:t>
            </a:r>
            <a:r>
              <a:rPr lang="en-IN" dirty="0">
                <a:hlinkClick r:id="rId3"/>
              </a:rPr>
              <a:t>://github.com/Emily-bhat/Heart-Disease-Prediction-Model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9649325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154</TotalTime>
  <Words>438</Words>
  <Application>Microsoft Office PowerPoint</Application>
  <PresentationFormat>Widescreen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Bell MT</vt:lpstr>
      <vt:lpstr>Carlito</vt:lpstr>
      <vt:lpstr>Trebuchet MS</vt:lpstr>
      <vt:lpstr>Wingdings</vt:lpstr>
      <vt:lpstr>Berlin</vt:lpstr>
      <vt:lpstr>HEART DISEASE PREDICTION MODEL </vt:lpstr>
      <vt:lpstr>PROBLEM STATEMENT</vt:lpstr>
      <vt:lpstr>IDEA SOLUTION </vt:lpstr>
      <vt:lpstr>TECHNOLOGIES USED</vt:lpstr>
      <vt:lpstr>LOGISTIC REGRESSION(WHAT AND WHY)</vt:lpstr>
      <vt:lpstr>WORKFLOW</vt:lpstr>
      <vt:lpstr>EDA HIGHLIGHTS</vt:lpstr>
      <vt:lpstr>MODEL EVALUATION AND 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EMILY BHATTACHARJEE</dc:creator>
  <cp:lastModifiedBy>EMILY BHATTACHARJEE</cp:lastModifiedBy>
  <cp:revision>1</cp:revision>
  <dcterms:created xsi:type="dcterms:W3CDTF">2025-11-14T14:28:20Z</dcterms:created>
  <dcterms:modified xsi:type="dcterms:W3CDTF">2025-11-14T17:02:38Z</dcterms:modified>
</cp:coreProperties>
</file>